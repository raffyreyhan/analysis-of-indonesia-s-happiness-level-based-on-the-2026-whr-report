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rial Bold" charset="1" panose="020B0704020202020204"/>
      <p:regular r:id="rId17"/>
    </p:embeddedFont>
    <p:embeddedFont>
      <p:font typeface="Arial"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notesSlides/notesSlide2.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Pada presentasi ini saya akan membahas tingkat evaluasi kehidupan masyarakat Indonesia berdasarkan data World Happiness Report. Analisis difokuskan pada periode lima tahun terakhir yang digunakan dalam tugas, yaitu 2021 sampai 2025.</a:t>
            </a:r>
          </a:p>
          <a:p>
            <a:r>
              <a:rPr lang="en-US"/>
              <a:t/>
            </a:r>
          </a:p>
          <a:p>
            <a:r>
              <a:rPr lang="en-US"/>
              <a:t>Selain melihat perkembangan Life Evaluation Indonesia, saya juga akan membandingkannya dengan rata-rata global, melihat beberapa variabel yang memiliki hubungan dengan Life Evaluation, serta membandingkan Indonesia dengan beberapa negara ASEAN yang memiliki data pada dataset.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Dataset yang digunakan berasal dari World Happiness Report 2026. Untuk presentasi ini saya menggunakan data Indonesia selama lima tahun, yaitu 2021 sampai 2025.</a:t>
            </a:r>
          </a:p>
          <a:p>
            <a:r>
              <a:rPr lang="en-US"/>
              <a:t/>
            </a:r>
          </a:p>
          <a:p>
            <a:r>
              <a:rPr lang="en-US"/>
              <a:t>Indikator utama yang digunakan adalah Life Evaluation atau Life evaluation (3-year average). Jadi, indikator ini merupakan evaluasi kehidupan dengan konsep rata-rata tiga tahun, sehingga perlu diperhatikan bahwa nilainya bukan merupakan skor survei satu tahun secara murni.</a:t>
            </a:r>
          </a:p>
          <a:p>
            <a:r>
              <a:rPr lang="en-US"/>
              <a:t/>
            </a:r>
          </a:p>
          <a:p>
            <a:r>
              <a:rPr lang="en-US"/>
              <a:t>Selama periode 2021 sampai 2025, rata-rata Life Evaluation Indonesia adalah sekitar 5,464.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Berdasarkan grafik, Life Evaluation Indonesia menunjukkan kecenderungan meningkat selama periode 2021 sampai 2025.</a:t>
            </a:r>
          </a:p>
          <a:p>
            <a:r>
              <a:rPr lang="en-US"/>
              <a:t/>
            </a:r>
          </a:p>
          <a:p>
            <a:r>
              <a:rPr lang="en-US"/>
              <a:t>Pada 2021, nilainya sebesar 5,240. Kemudian meningkat menjadi 5,277 pada 2022, naik menjadi 5,568 pada 2023, kemudian mencapai 5,617 pada 2024 dan tetap berada pada 5,617 pada 2025.</a:t>
            </a:r>
          </a:p>
          <a:p>
            <a:r>
              <a:rPr lang="en-US"/>
              <a:t/>
            </a:r>
          </a:p>
          <a:p>
            <a:r>
              <a:rPr lang="en-US"/>
              <a:t>Dengan demikian, terdapat peningkatan sebesar sekitar 0,377 poin antara 2021 dan 2025.</a:t>
            </a:r>
          </a:p>
          <a:p>
            <a:r>
              <a:rPr lang="en-US"/>
              <a:t/>
            </a:r>
          </a:p>
          <a:p>
            <a:r>
              <a:rPr lang="en-US"/>
              <a:t>Namun, saya tidak mengatakan bahwa peningkatannya terjadi secara konsisten setiap tahun. Yang lebih tepat adalah secara keseluruhan trennya cenderung meningkat, dengan beberapa perubahan antarperiode.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Selanjutnya saya membandingkan Indonesia dengan rata-rata global pada tahun yang sama.</a:t>
            </a:r>
          </a:p>
          <a:p>
            <a:r>
              <a:rPr lang="en-US"/>
              <a:t/>
            </a:r>
          </a:p>
          <a:p>
            <a:r>
              <a:rPr lang="en-US"/>
              <a:t>Pada 2021, Life Evaluation Indonesia sebesar 5,240, sedangkan rata-rata global sebesar 5,554. Pada 2022, Indonesia juga masih berada di bawah rata-rata global.</a:t>
            </a:r>
          </a:p>
          <a:p>
            <a:r>
              <a:rPr lang="en-US"/>
              <a:t/>
            </a:r>
          </a:p>
          <a:p>
            <a:r>
              <a:rPr lang="en-US"/>
              <a:t>Kemudian pada 2023, nilai Indonesia meningkat menjadi 5,568, sedikit lebih tinggi daripada rata-rata global sebesar 5,528.</a:t>
            </a:r>
          </a:p>
          <a:p>
            <a:r>
              <a:rPr lang="en-US"/>
              <a:t/>
            </a:r>
          </a:p>
          <a:p>
            <a:r>
              <a:rPr lang="en-US"/>
              <a:t>Kondisi tersebut berlanjut pada 2024, ketika Indonesia memiliki nilai 5,617 dibandingkan rata-rata global 5,578.</a:t>
            </a:r>
          </a:p>
          <a:p>
            <a:r>
              <a:rPr lang="en-US"/>
              <a:t/>
            </a:r>
          </a:p>
          <a:p>
            <a:r>
              <a:rPr lang="en-US"/>
              <a:t>Namun pada 2025, nilai Indonesia sebesar 5,617 kembali sedikit berada di bawah rata-rata global sebesar 5,650.</a:t>
            </a:r>
          </a:p>
          <a:p>
            <a:r>
              <a:rPr lang="en-US"/>
              <a:t/>
            </a:r>
          </a:p>
          <a:p>
            <a:r>
              <a:rPr lang="en-US"/>
              <a:t>Jadi, posisi Indonesia terhadap rata-rata global mengalami perubahan selama lima tahun tersebut dan tidak selalu berada di atas atau di bawah global.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Untuk menjawab pertanyaan kedua, saya melihat hubungan antara Life Evaluation dengan beberapa variabel yang tersedia pada dataset menggunakan korelasi Pearson.</a:t>
            </a:r>
          </a:p>
          <a:p>
            <a:r>
              <a:rPr lang="en-US"/>
              <a:t/>
            </a:r>
          </a:p>
          <a:p>
            <a:r>
              <a:rPr lang="en-US"/>
              <a:t>Hasilnya menunjukkan bahwa Freedom to make life choices memiliki korelasi positif paling kuat dengan Life Evaluation, yaitu sekitar 0,893.</a:t>
            </a:r>
          </a:p>
          <a:p>
            <a:r>
              <a:rPr lang="en-US"/>
              <a:t/>
            </a:r>
          </a:p>
          <a:p>
            <a:r>
              <a:rPr lang="en-US"/>
              <a:t>Selanjutnya terdapat Generosity dengan korelasi sekitar −0,878, dan Social support dengan korelasi sekitar 0,787.</a:t>
            </a:r>
          </a:p>
          <a:p>
            <a:r>
              <a:rPr lang="en-US"/>
              <a:t/>
            </a:r>
          </a:p>
          <a:p>
            <a:r>
              <a:rPr lang="en-US"/>
              <a:t>Korelasi positif berarti kedua variabel cenderung bergerak searah, sedangkan korelasi negatif menunjukkan kecenderungan bergerak berlawanan arah.</a:t>
            </a:r>
          </a:p>
          <a:p>
            <a:r>
              <a:rPr lang="en-US"/>
              <a:t/>
            </a:r>
          </a:p>
          <a:p>
            <a:r>
              <a:rPr lang="en-US"/>
              <a:t>Namun, hasil ini perlu diperhatikan karena analisis hanya menggunakan lima observasi, yaitu 2021 sampai 2025. Selain itu, korelasi tidak membuktikan hubungan sebab-akibat.</a:t>
            </a:r>
          </a:p>
          <a:p>
            <a:r>
              <a:rPr lang="en-US"/>
              <a:t/>
            </a:r>
          </a:p>
          <a:p>
            <a:r>
              <a:rPr lang="en-US"/>
              <a:t>Oleh karena itu, hasil ini lebih tepat digunakan untuk menunjukkan variabel yang memiliki hubungan statistik dengan Life Evaluation, bukan sebagai bukti bahwa variabel tersebut secara langsung menyebabkan perubahan kebahagiaan.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Untuk menjawab pertanyaan ketiga, saya tidak menggunakan satu tahun saja, tetapi menggunakan rata-rata Life Evaluation selama lima tahun, yaitu 2021 sampai 2025.</a:t>
            </a:r>
          </a:p>
          <a:p>
            <a:r>
              <a:rPr lang="en-US"/>
              <a:t/>
            </a:r>
          </a:p>
          <a:p>
            <a:r>
              <a:rPr lang="en-US"/>
              <a:t>Berdasarkan dataset yang digunakan, Singapore memiliki rata-rata tertinggi sebesar 6,548, kemudian Thailand 6,046, Philippines 5,958, dan Malaysia 5,932.</a:t>
            </a:r>
          </a:p>
          <a:p>
            <a:r>
              <a:rPr lang="en-US"/>
              <a:t/>
            </a:r>
          </a:p>
          <a:p>
            <a:r>
              <a:rPr lang="en-US"/>
              <a:t>Indonesia memiliki rata-rata 5,464, sehingga berada pada peringkat kelima dari tujuh negara ASEAN yang memiliki data pada dataset.</a:t>
            </a:r>
          </a:p>
          <a:p>
            <a:r>
              <a:rPr lang="en-US"/>
              <a:t/>
            </a:r>
          </a:p>
          <a:p>
            <a:r>
              <a:rPr lang="en-US"/>
              <a:t>Di bawah Indonesia terdapat Cambodia dengan 4,435 dan Myanmar dengan 4,346.</a:t>
            </a:r>
          </a:p>
          <a:p>
            <a:r>
              <a:rPr lang="en-US"/>
              <a:t/>
            </a:r>
          </a:p>
          <a:p>
            <a:r>
              <a:rPr lang="en-US"/>
              <a:t>Perlu diperhatikan bahwa tidak seluruh negara ASEAN tersedia dalam data yang digunakan untuk periode ini. Karena itu, peringkat tersebut adalah peringkat di antara negara ASEAN yang memiliki data, bukan peringkat seluruh negara ASEAN.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jpe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10827068" y="3811493"/>
            <a:ext cx="7222590" cy="7248950"/>
          </a:xfrm>
          <a:custGeom>
            <a:avLst/>
            <a:gdLst/>
            <a:ahLst/>
            <a:cxnLst/>
            <a:rect r="r" b="b" t="t" l="l"/>
            <a:pathLst>
              <a:path h="7248950" w="7222590">
                <a:moveTo>
                  <a:pt x="0" y="0"/>
                </a:moveTo>
                <a:lnTo>
                  <a:pt x="7222590" y="0"/>
                </a:lnTo>
                <a:lnTo>
                  <a:pt x="7222590" y="7248950"/>
                </a:lnTo>
                <a:lnTo>
                  <a:pt x="0" y="7248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0" y="1571113"/>
            <a:ext cx="18288000" cy="618363"/>
          </a:xfrm>
          <a:prstGeom prst="rect">
            <a:avLst/>
          </a:prstGeom>
        </p:spPr>
        <p:txBody>
          <a:bodyPr anchor="t" rtlCol="false" tIns="0" lIns="0" bIns="0" rIns="0">
            <a:spAutoFit/>
          </a:bodyPr>
          <a:lstStyle/>
          <a:p>
            <a:pPr algn="ctr">
              <a:lnSpc>
                <a:spcPts val="4416"/>
              </a:lnSpc>
            </a:pPr>
            <a:r>
              <a:rPr lang="en-US" b="true" sz="4800" spc="-211">
                <a:solidFill>
                  <a:srgbClr val="FFFFFF"/>
                </a:solidFill>
                <a:latin typeface="Arial Bold"/>
                <a:ea typeface="Arial Bold"/>
                <a:cs typeface="Arial Bold"/>
                <a:sym typeface="Arial Bold"/>
              </a:rPr>
              <a:t>ANALISIS TINGKAT KEBAGIAAN DI INDONESIA</a:t>
            </a:r>
          </a:p>
        </p:txBody>
      </p:sp>
      <p:sp>
        <p:nvSpPr>
          <p:cNvPr name="TextBox 5" id="5"/>
          <p:cNvSpPr txBox="true"/>
          <p:nvPr/>
        </p:nvSpPr>
        <p:spPr>
          <a:xfrm rot="0">
            <a:off x="1187358" y="8304890"/>
            <a:ext cx="5826857" cy="737235"/>
          </a:xfrm>
          <a:prstGeom prst="rect">
            <a:avLst/>
          </a:prstGeom>
        </p:spPr>
        <p:txBody>
          <a:bodyPr anchor="t" rtlCol="false" tIns="0" lIns="0" bIns="0" rIns="0">
            <a:spAutoFit/>
          </a:bodyPr>
          <a:lstStyle/>
          <a:p>
            <a:pPr algn="ctr">
              <a:lnSpc>
                <a:spcPts val="2940"/>
              </a:lnSpc>
            </a:pPr>
            <a:r>
              <a:rPr lang="en-US" b="true" sz="2100" spc="-63">
                <a:solidFill>
                  <a:srgbClr val="FFFFFF"/>
                </a:solidFill>
                <a:latin typeface="Arial Bold"/>
                <a:ea typeface="Arial Bold"/>
                <a:cs typeface="Arial Bold"/>
                <a:sym typeface="Arial Bold"/>
              </a:rPr>
              <a:t>Presented by Raffy Reyhan Ramadhana</a:t>
            </a:r>
          </a:p>
          <a:p>
            <a:pPr algn="ctr">
              <a:lnSpc>
                <a:spcPts val="2940"/>
              </a:lnSpc>
              <a:spcBef>
                <a:spcPct val="0"/>
              </a:spcBef>
            </a:pPr>
            <a:r>
              <a:rPr lang="en-US" b="true" sz="2100" spc="-63">
                <a:solidFill>
                  <a:srgbClr val="FFFFFF"/>
                </a:solidFill>
                <a:latin typeface="Arial Bold"/>
                <a:ea typeface="Arial Bold"/>
                <a:cs typeface="Arial Bold"/>
                <a:sym typeface="Arial Bold"/>
              </a:rPr>
              <a:t>23 September 2026</a:t>
            </a:r>
          </a:p>
        </p:txBody>
      </p:sp>
      <p:sp>
        <p:nvSpPr>
          <p:cNvPr name="TextBox 6" id="6"/>
          <p:cNvSpPr txBox="true"/>
          <p:nvPr/>
        </p:nvSpPr>
        <p:spPr>
          <a:xfrm rot="0">
            <a:off x="1472158" y="3716243"/>
            <a:ext cx="7548662" cy="1474470"/>
          </a:xfrm>
          <a:prstGeom prst="rect">
            <a:avLst/>
          </a:prstGeom>
        </p:spPr>
        <p:txBody>
          <a:bodyPr anchor="t" rtlCol="false" tIns="0" lIns="0" bIns="0" rIns="0">
            <a:spAutoFit/>
          </a:bodyPr>
          <a:lstStyle/>
          <a:p>
            <a:pPr algn="ctr">
              <a:lnSpc>
                <a:spcPts val="5880"/>
              </a:lnSpc>
            </a:pPr>
            <a:r>
              <a:rPr lang="en-US" sz="4200" b="true">
                <a:solidFill>
                  <a:srgbClr val="FFFFFF"/>
                </a:solidFill>
                <a:latin typeface="Arial Bold"/>
                <a:ea typeface="Arial Bold"/>
                <a:cs typeface="Arial Bold"/>
                <a:sym typeface="Arial Bold"/>
              </a:rPr>
              <a:t>World H</a:t>
            </a:r>
            <a:r>
              <a:rPr lang="en-US" b="true" sz="4200">
                <a:solidFill>
                  <a:srgbClr val="FFFFFF"/>
                </a:solidFill>
                <a:latin typeface="Arial Bold"/>
                <a:ea typeface="Arial Bold"/>
                <a:cs typeface="Arial Bold"/>
                <a:sym typeface="Arial Bold"/>
              </a:rPr>
              <a:t>appiness Report 2026</a:t>
            </a:r>
          </a:p>
          <a:p>
            <a:pPr algn="ctr">
              <a:lnSpc>
                <a:spcPts val="5880"/>
              </a:lnSpc>
            </a:pPr>
            <a:r>
              <a:rPr lang="en-US" b="true" sz="4200">
                <a:solidFill>
                  <a:srgbClr val="FFFFFF"/>
                </a:solidFill>
                <a:latin typeface="Arial Bold"/>
                <a:ea typeface="Arial Bold"/>
                <a:cs typeface="Arial Bold"/>
                <a:sym typeface="Arial Bold"/>
              </a:rPr>
              <a:t>Periode 2021–2025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16966081" y="4168814"/>
            <a:ext cx="4317620" cy="5277092"/>
          </a:xfrm>
          <a:custGeom>
            <a:avLst/>
            <a:gdLst/>
            <a:ahLst/>
            <a:cxnLst/>
            <a:rect r="r" b="b" t="t" l="l"/>
            <a:pathLst>
              <a:path h="5277092" w="4317620">
                <a:moveTo>
                  <a:pt x="0" y="0"/>
                </a:moveTo>
                <a:lnTo>
                  <a:pt x="4317620" y="0"/>
                </a:lnTo>
                <a:lnTo>
                  <a:pt x="4317620" y="5277092"/>
                </a:lnTo>
                <a:lnTo>
                  <a:pt x="0" y="5277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4" id="4"/>
          <p:cNvGraphicFramePr>
            <a:graphicFrameLocks noGrp="true"/>
          </p:cNvGraphicFramePr>
          <p:nvPr/>
        </p:nvGraphicFramePr>
        <p:xfrm>
          <a:off x="9744684" y="2104504"/>
          <a:ext cx="7315200" cy="5534139"/>
        </p:xfrm>
        <a:graphic>
          <a:graphicData uri="http://schemas.openxmlformats.org/drawingml/2006/table">
            <a:tbl>
              <a:tblPr/>
              <a:tblGrid>
                <a:gridCol w="2438400"/>
                <a:gridCol w="2438400"/>
                <a:gridCol w="2438400"/>
              </a:tblGrid>
              <a:tr h="1218176">
                <a:tc>
                  <a:txBody>
                    <a:bodyPr anchor="t" rtlCol="false"/>
                    <a:lstStyle/>
                    <a:p>
                      <a:pPr algn="ctr">
                        <a:lnSpc>
                          <a:spcPts val="2940"/>
                        </a:lnSpc>
                        <a:defRPr/>
                      </a:pPr>
                      <a:r>
                        <a:rPr lang="en-US" sz="2100" b="true">
                          <a:solidFill>
                            <a:srgbClr val="000000"/>
                          </a:solidFill>
                          <a:latin typeface="Arial Bold"/>
                          <a:ea typeface="Arial Bold"/>
                          <a:cs typeface="Arial Bold"/>
                          <a:sym typeface="Arial Bold"/>
                        </a:rPr>
                        <a:t>Year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ctr">
                        <a:lnSpc>
                          <a:spcPts val="2940"/>
                        </a:lnSpc>
                        <a:defRPr/>
                      </a:pPr>
                      <a:r>
                        <a:rPr lang="en-US" sz="2100" b="true">
                          <a:solidFill>
                            <a:srgbClr val="000000"/>
                          </a:solidFill>
                          <a:latin typeface="Arial Bold"/>
                          <a:ea typeface="Arial Bold"/>
                          <a:cs typeface="Arial Bold"/>
                          <a:sym typeface="Arial Bold"/>
                        </a:rPr>
                        <a:t>Rank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c>
                  <a:txBody>
                    <a:bodyPr anchor="t" rtlCol="false"/>
                    <a:lstStyle/>
                    <a:p>
                      <a:pPr algn="ctr">
                        <a:lnSpc>
                          <a:spcPts val="2940"/>
                        </a:lnSpc>
                        <a:defRPr/>
                      </a:pPr>
                      <a:r>
                        <a:rPr lang="en-US" sz="2100" b="true">
                          <a:solidFill>
                            <a:srgbClr val="000000"/>
                          </a:solidFill>
                          <a:latin typeface="Arial Bold"/>
                          <a:ea typeface="Arial Bold"/>
                          <a:cs typeface="Arial Bold"/>
                          <a:sym typeface="Arial Bold"/>
                        </a:rPr>
                        <a:t>Life evaluation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E6E6E6"/>
                    </a:solidFill>
                  </a:tcPr>
                </a:tc>
              </a:tr>
              <a:tr h="863193">
                <a:tc>
                  <a:txBody>
                    <a:bodyPr anchor="t" rtlCol="false"/>
                    <a:lstStyle/>
                    <a:p>
                      <a:pPr algn="ctr">
                        <a:lnSpc>
                          <a:spcPts val="2940"/>
                        </a:lnSpc>
                        <a:defRPr/>
                      </a:pPr>
                      <a:r>
                        <a:rPr lang="en-US" sz="2100">
                          <a:solidFill>
                            <a:srgbClr val="FFFFFF"/>
                          </a:solidFill>
                          <a:latin typeface="Arial"/>
                          <a:ea typeface="Arial"/>
                          <a:cs typeface="Arial"/>
                          <a:sym typeface="Arial"/>
                        </a:rPr>
                        <a:t>2025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87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5.617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3193">
                <a:tc>
                  <a:txBody>
                    <a:bodyPr anchor="t" rtlCol="false"/>
                    <a:lstStyle/>
                    <a:p>
                      <a:pPr algn="ctr">
                        <a:lnSpc>
                          <a:spcPts val="2940"/>
                        </a:lnSpc>
                        <a:defRPr/>
                      </a:pPr>
                      <a:r>
                        <a:rPr lang="en-US" sz="2100">
                          <a:solidFill>
                            <a:srgbClr val="FFFFFF"/>
                          </a:solidFill>
                          <a:latin typeface="Arial"/>
                          <a:ea typeface="Arial"/>
                          <a:cs typeface="Arial"/>
                          <a:sym typeface="Arial"/>
                        </a:rPr>
                        <a:t>2024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83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5.617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3193">
                <a:tc>
                  <a:txBody>
                    <a:bodyPr anchor="t" rtlCol="false"/>
                    <a:lstStyle/>
                    <a:p>
                      <a:pPr algn="ctr">
                        <a:lnSpc>
                          <a:spcPts val="2940"/>
                        </a:lnSpc>
                        <a:defRPr/>
                      </a:pPr>
                      <a:r>
                        <a:rPr lang="en-US" sz="2100">
                          <a:solidFill>
                            <a:srgbClr val="FFFFFF"/>
                          </a:solidFill>
                          <a:latin typeface="Arial"/>
                          <a:ea typeface="Arial"/>
                          <a:cs typeface="Arial"/>
                          <a:sym typeface="Arial"/>
                        </a:rPr>
                        <a:t>2023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80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5.568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3193">
                <a:tc>
                  <a:txBody>
                    <a:bodyPr anchor="t" rtlCol="false"/>
                    <a:lstStyle/>
                    <a:p>
                      <a:pPr algn="ctr">
                        <a:lnSpc>
                          <a:spcPts val="2940"/>
                        </a:lnSpc>
                        <a:defRPr/>
                      </a:pPr>
                      <a:r>
                        <a:rPr lang="en-US" sz="2100">
                          <a:solidFill>
                            <a:srgbClr val="FFFFFF"/>
                          </a:solidFill>
                          <a:latin typeface="Arial"/>
                          <a:ea typeface="Arial"/>
                          <a:cs typeface="Arial"/>
                          <a:sym typeface="Arial"/>
                        </a:rPr>
                        <a:t>2022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84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5.277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3193">
                <a:tc>
                  <a:txBody>
                    <a:bodyPr anchor="t" rtlCol="false"/>
                    <a:lstStyle/>
                    <a:p>
                      <a:pPr algn="ctr">
                        <a:lnSpc>
                          <a:spcPts val="2940"/>
                        </a:lnSpc>
                        <a:defRPr/>
                      </a:pPr>
                      <a:r>
                        <a:rPr lang="en-US" sz="2100">
                          <a:solidFill>
                            <a:srgbClr val="FFFFFF"/>
                          </a:solidFill>
                          <a:latin typeface="Arial"/>
                          <a:ea typeface="Arial"/>
                          <a:cs typeface="Arial"/>
                          <a:sym typeface="Arial"/>
                        </a:rPr>
                        <a:t>2021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87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Arial"/>
                          <a:ea typeface="Arial"/>
                          <a:cs typeface="Arial"/>
                          <a:sym typeface="Arial"/>
                        </a:rPr>
                        <a:t>5.240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5" id="5"/>
          <p:cNvSpPr txBox="true"/>
          <p:nvPr/>
        </p:nvSpPr>
        <p:spPr>
          <a:xfrm rot="0">
            <a:off x="11117" y="920356"/>
            <a:ext cx="18276883"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Gambaran Umum </a:t>
            </a:r>
            <a:r>
              <a:rPr lang="en-US" b="true" sz="4800" spc="-211">
                <a:solidFill>
                  <a:srgbClr val="FFFFFF"/>
                </a:solidFill>
                <a:latin typeface="Arial Bold"/>
                <a:ea typeface="Arial Bold"/>
                <a:cs typeface="Arial Bold"/>
                <a:sym typeface="Arial Bold"/>
              </a:rPr>
              <a:t>Data</a:t>
            </a:r>
          </a:p>
        </p:txBody>
      </p:sp>
      <p:sp>
        <p:nvSpPr>
          <p:cNvPr name="TextBox 6" id="6"/>
          <p:cNvSpPr txBox="true"/>
          <p:nvPr/>
        </p:nvSpPr>
        <p:spPr>
          <a:xfrm rot="0">
            <a:off x="434614" y="2144521"/>
            <a:ext cx="7842033" cy="3074035"/>
          </a:xfrm>
          <a:prstGeom prst="rect">
            <a:avLst/>
          </a:prstGeom>
        </p:spPr>
        <p:txBody>
          <a:bodyPr anchor="t" rtlCol="false" tIns="0" lIns="0" bIns="0" rIns="0">
            <a:spAutoFit/>
          </a:bodyPr>
          <a:lstStyle/>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Su</a:t>
            </a:r>
            <a:r>
              <a:rPr lang="en-US" b="true" sz="2799">
                <a:solidFill>
                  <a:srgbClr val="FFFFFF"/>
                </a:solidFill>
                <a:latin typeface="Arial Bold"/>
                <a:ea typeface="Arial Bold"/>
                <a:cs typeface="Arial Bold"/>
                <a:sym typeface="Arial Bold"/>
              </a:rPr>
              <a:t>mber:</a:t>
            </a:r>
            <a:r>
              <a:rPr lang="en-US" sz="2799">
                <a:solidFill>
                  <a:srgbClr val="FFFFFF"/>
                </a:solidFill>
                <a:latin typeface="Arial"/>
                <a:ea typeface="Arial"/>
                <a:cs typeface="Arial"/>
                <a:sym typeface="Arial"/>
              </a:rPr>
              <a:t> World Happiness Report 2026</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Periode:</a:t>
            </a:r>
            <a:r>
              <a:rPr lang="en-US" sz="2799">
                <a:solidFill>
                  <a:srgbClr val="FFFFFF"/>
                </a:solidFill>
                <a:latin typeface="Arial"/>
                <a:ea typeface="Arial"/>
                <a:cs typeface="Arial"/>
                <a:sym typeface="Arial"/>
              </a:rPr>
              <a:t> 2021–2025</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Objek:</a:t>
            </a:r>
            <a:r>
              <a:rPr lang="en-US" sz="2799">
                <a:solidFill>
                  <a:srgbClr val="FFFFFF"/>
                </a:solidFill>
                <a:latin typeface="Arial"/>
                <a:ea typeface="Arial"/>
                <a:cs typeface="Arial"/>
                <a:sym typeface="Arial"/>
              </a:rPr>
              <a:t> Indonesia</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Indikator:</a:t>
            </a:r>
            <a:r>
              <a:rPr lang="en-US" sz="2799">
                <a:solidFill>
                  <a:srgbClr val="FFFFFF"/>
                </a:solidFill>
                <a:latin typeface="Arial"/>
                <a:ea typeface="Arial"/>
                <a:cs typeface="Arial"/>
                <a:sym typeface="Arial"/>
              </a:rPr>
              <a:t> Life Evaluation</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Pembanding:</a:t>
            </a:r>
            <a:r>
              <a:rPr lang="en-US" sz="2799">
                <a:solidFill>
                  <a:srgbClr val="FFFFFF"/>
                </a:solidFill>
                <a:latin typeface="Arial"/>
                <a:ea typeface="Arial"/>
                <a:cs typeface="Arial"/>
                <a:sym typeface="Arial"/>
              </a:rPr>
              <a:t> Global &amp; ASEAN</a:t>
            </a:r>
          </a:p>
          <a:p>
            <a:pPr algn="ctr">
              <a:lnSpc>
                <a:spcPts val="4759"/>
              </a:lnSpc>
            </a:pPr>
          </a:p>
        </p:txBody>
      </p:sp>
      <p:sp>
        <p:nvSpPr>
          <p:cNvPr name="TextBox 7" id="7"/>
          <p:cNvSpPr txBox="true"/>
          <p:nvPr/>
        </p:nvSpPr>
        <p:spPr>
          <a:xfrm rot="0">
            <a:off x="1028700" y="5067300"/>
            <a:ext cx="6250764" cy="995680"/>
          </a:xfrm>
          <a:prstGeom prst="rect">
            <a:avLst/>
          </a:prstGeom>
        </p:spPr>
        <p:txBody>
          <a:bodyPr anchor="t" rtlCol="false" tIns="0" lIns="0" bIns="0" rIns="0">
            <a:spAutoFit/>
          </a:bodyPr>
          <a:lstStyle/>
          <a:p>
            <a:pPr algn="just">
              <a:lnSpc>
                <a:spcPts val="3919"/>
              </a:lnSpc>
            </a:pPr>
            <a:r>
              <a:rPr lang="en-US" sz="2799">
                <a:solidFill>
                  <a:srgbClr val="FFFFFF"/>
                </a:solidFill>
                <a:latin typeface="Arial"/>
                <a:ea typeface="Arial"/>
                <a:cs typeface="Arial"/>
                <a:sym typeface="Arial"/>
              </a:rPr>
              <a:t>Pada Dataset terdiri dari </a:t>
            </a:r>
          </a:p>
          <a:p>
            <a:pPr algn="just">
              <a:lnSpc>
                <a:spcPts val="3919"/>
              </a:lnSpc>
            </a:pPr>
            <a:r>
              <a:rPr lang="en-US" sz="2799">
                <a:solidFill>
                  <a:srgbClr val="FFFFFF"/>
                </a:solidFill>
                <a:latin typeface="Arial"/>
                <a:ea typeface="Arial"/>
                <a:cs typeface="Arial"/>
                <a:sym typeface="Arial"/>
              </a:rPr>
              <a:t>2116 Baris dan 13 Kolom</a:t>
            </a:r>
          </a:p>
        </p:txBody>
      </p:sp>
      <p:sp>
        <p:nvSpPr>
          <p:cNvPr name="TextBox 8" id="8"/>
          <p:cNvSpPr txBox="true"/>
          <p:nvPr/>
        </p:nvSpPr>
        <p:spPr>
          <a:xfrm rot="0">
            <a:off x="585818" y="6414896"/>
            <a:ext cx="3124200" cy="1986280"/>
          </a:xfrm>
          <a:prstGeom prst="rect">
            <a:avLst/>
          </a:prstGeom>
        </p:spPr>
        <p:txBody>
          <a:bodyPr anchor="t" rtlCol="false" tIns="0" lIns="0" bIns="0" rIns="0">
            <a:spAutoFit/>
          </a:bodyPr>
          <a:lstStyle/>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Me</a:t>
            </a:r>
            <a:r>
              <a:rPr lang="en-US" b="true" sz="2799">
                <a:solidFill>
                  <a:srgbClr val="FFFFFF"/>
                </a:solidFill>
                <a:latin typeface="Arial Bold"/>
                <a:ea typeface="Arial Bold"/>
                <a:cs typeface="Arial Bold"/>
                <a:sym typeface="Arial Bold"/>
              </a:rPr>
              <a:t>an </a:t>
            </a:r>
            <a:r>
              <a:rPr lang="en-US" sz="2799">
                <a:solidFill>
                  <a:srgbClr val="FFFFFF"/>
                </a:solidFill>
                <a:latin typeface="Arial"/>
                <a:ea typeface="Arial"/>
                <a:cs typeface="Arial"/>
                <a:sym typeface="Arial"/>
              </a:rPr>
              <a:t>= 5.4638</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Median </a:t>
            </a:r>
            <a:r>
              <a:rPr lang="en-US" sz="2799">
                <a:solidFill>
                  <a:srgbClr val="FFFFFF"/>
                </a:solidFill>
                <a:latin typeface="Arial"/>
                <a:ea typeface="Arial"/>
                <a:cs typeface="Arial"/>
                <a:sym typeface="Arial"/>
              </a:rPr>
              <a:t>= 5.568</a:t>
            </a:r>
          </a:p>
          <a:p>
            <a:pPr algn="just" marL="604519" indent="-302260" lvl="1">
              <a:lnSpc>
                <a:spcPts val="3919"/>
              </a:lnSpc>
              <a:buFont typeface="Arial"/>
              <a:buChar char="•"/>
            </a:pPr>
            <a:r>
              <a:rPr lang="en-US" b="true" sz="2799">
                <a:solidFill>
                  <a:srgbClr val="FFFFFF"/>
                </a:solidFill>
                <a:latin typeface="Arial Bold"/>
                <a:ea typeface="Arial Bold"/>
                <a:cs typeface="Arial Bold"/>
                <a:sym typeface="Arial Bold"/>
              </a:rPr>
              <a:t>Mode </a:t>
            </a:r>
            <a:r>
              <a:rPr lang="en-US" sz="2799">
                <a:solidFill>
                  <a:srgbClr val="FFFFFF"/>
                </a:solidFill>
                <a:latin typeface="Arial"/>
                <a:ea typeface="Arial"/>
                <a:cs typeface="Arial"/>
                <a:sym typeface="Arial"/>
              </a:rPr>
              <a:t>= 5.617</a:t>
            </a:r>
          </a:p>
          <a:p>
            <a:pPr algn="just">
              <a:lnSpc>
                <a:spcPts val="391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536545" y="2589889"/>
            <a:ext cx="11204351" cy="5107222"/>
          </a:xfrm>
          <a:custGeom>
            <a:avLst/>
            <a:gdLst/>
            <a:ahLst/>
            <a:cxnLst/>
            <a:rect r="r" b="b" t="t" l="l"/>
            <a:pathLst>
              <a:path h="5107222" w="11204351">
                <a:moveTo>
                  <a:pt x="0" y="0"/>
                </a:moveTo>
                <a:lnTo>
                  <a:pt x="11204351" y="0"/>
                </a:lnTo>
                <a:lnTo>
                  <a:pt x="11204351" y="5107222"/>
                </a:lnTo>
                <a:lnTo>
                  <a:pt x="0" y="5107222"/>
                </a:lnTo>
                <a:lnTo>
                  <a:pt x="0" y="0"/>
                </a:lnTo>
                <a:close/>
              </a:path>
            </a:pathLst>
          </a:custGeom>
          <a:blipFill>
            <a:blip r:embed="rId4"/>
            <a:stretch>
              <a:fillRect l="0" t="0" r="0" b="0"/>
            </a:stretch>
          </a:blipFill>
        </p:spPr>
      </p:sp>
      <p:sp>
        <p:nvSpPr>
          <p:cNvPr name="TextBox 4" id="4"/>
          <p:cNvSpPr txBox="true"/>
          <p:nvPr/>
        </p:nvSpPr>
        <p:spPr>
          <a:xfrm rot="0">
            <a:off x="0" y="1066800"/>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Tren Life Evalu</a:t>
            </a:r>
            <a:r>
              <a:rPr lang="en-US" b="true" sz="4800" spc="-211">
                <a:solidFill>
                  <a:srgbClr val="FFFFFF"/>
                </a:solidFill>
                <a:latin typeface="Arial Bold"/>
                <a:ea typeface="Arial Bold"/>
                <a:cs typeface="Arial Bold"/>
                <a:sym typeface="Arial Bold"/>
              </a:rPr>
              <a:t>ation Indonesia 2021–2025</a:t>
            </a:r>
          </a:p>
        </p:txBody>
      </p:sp>
      <p:sp>
        <p:nvSpPr>
          <p:cNvPr name="TextBox 5" id="5"/>
          <p:cNvSpPr txBox="true"/>
          <p:nvPr/>
        </p:nvSpPr>
        <p:spPr>
          <a:xfrm rot="0">
            <a:off x="12402327" y="2768240"/>
            <a:ext cx="5200918" cy="5214620"/>
          </a:xfrm>
          <a:prstGeom prst="rect">
            <a:avLst/>
          </a:prstGeom>
        </p:spPr>
        <p:txBody>
          <a:bodyPr anchor="t" rtlCol="false" tIns="0" lIns="0" bIns="0" rIns="0">
            <a:spAutoFit/>
          </a:bodyPr>
          <a:lstStyle/>
          <a:p>
            <a:pPr algn="just">
              <a:lnSpc>
                <a:spcPts val="3919"/>
              </a:lnSpc>
            </a:pPr>
            <a:r>
              <a:rPr lang="en-US" sz="2799">
                <a:solidFill>
                  <a:srgbClr val="FFFFFF"/>
                </a:solidFill>
                <a:latin typeface="Arial"/>
                <a:ea typeface="Arial"/>
                <a:cs typeface="Arial"/>
                <a:sym typeface="Arial"/>
              </a:rPr>
              <a:t>Insight: Berdasarkan periode 2021–2025, Life Evaluation Indonesia cenderung meningkat, dari 5,240 pada 2021 menjadi 5,617 pada 2025. Namun, peningkatan tidak terjadi setiap tahun: nilai naik pada 2022–2024 dan kemudian relatif stabil pada 2025.</a:t>
            </a:r>
          </a:p>
          <a:p>
            <a:pPr algn="ctr">
              <a:lnSpc>
                <a:spcPts val="2940"/>
              </a:lnSpc>
            </a:pPr>
          </a:p>
          <a:p>
            <a:pPr algn="ctr">
              <a:lnSpc>
                <a:spcPts val="29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803562" y="2417801"/>
            <a:ext cx="10595886" cy="5198956"/>
          </a:xfrm>
          <a:custGeom>
            <a:avLst/>
            <a:gdLst/>
            <a:ahLst/>
            <a:cxnLst/>
            <a:rect r="r" b="b" t="t" l="l"/>
            <a:pathLst>
              <a:path h="5198956" w="10595886">
                <a:moveTo>
                  <a:pt x="0" y="0"/>
                </a:moveTo>
                <a:lnTo>
                  <a:pt x="10595885" y="0"/>
                </a:lnTo>
                <a:lnTo>
                  <a:pt x="10595885" y="5198956"/>
                </a:lnTo>
                <a:lnTo>
                  <a:pt x="0" y="5198956"/>
                </a:lnTo>
                <a:lnTo>
                  <a:pt x="0" y="0"/>
                </a:lnTo>
                <a:close/>
              </a:path>
            </a:pathLst>
          </a:custGeom>
          <a:blipFill>
            <a:blip r:embed="rId4"/>
            <a:stretch>
              <a:fillRect l="0" t="0" r="0" b="0"/>
            </a:stretch>
          </a:blipFill>
        </p:spPr>
      </p:sp>
      <p:sp>
        <p:nvSpPr>
          <p:cNvPr name="TextBox 4" id="4"/>
          <p:cNvSpPr txBox="true"/>
          <p:nvPr/>
        </p:nvSpPr>
        <p:spPr>
          <a:xfrm rot="0">
            <a:off x="0" y="920356"/>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Indonesia vs Rata-r</a:t>
            </a:r>
            <a:r>
              <a:rPr lang="en-US" b="true" sz="4800" spc="-211">
                <a:solidFill>
                  <a:srgbClr val="FFFFFF"/>
                </a:solidFill>
                <a:latin typeface="Arial Bold"/>
                <a:ea typeface="Arial Bold"/>
                <a:cs typeface="Arial Bold"/>
                <a:sym typeface="Arial Bold"/>
              </a:rPr>
              <a:t>ata Global</a:t>
            </a:r>
          </a:p>
        </p:txBody>
      </p:sp>
      <p:sp>
        <p:nvSpPr>
          <p:cNvPr name="TextBox 5" id="5"/>
          <p:cNvSpPr txBox="true"/>
          <p:nvPr/>
        </p:nvSpPr>
        <p:spPr>
          <a:xfrm rot="0">
            <a:off x="11870776" y="2674437"/>
            <a:ext cx="5388524" cy="5948680"/>
          </a:xfrm>
          <a:prstGeom prst="rect">
            <a:avLst/>
          </a:prstGeom>
        </p:spPr>
        <p:txBody>
          <a:bodyPr anchor="t" rtlCol="false" tIns="0" lIns="0" bIns="0" rIns="0">
            <a:spAutoFit/>
          </a:bodyPr>
          <a:lstStyle/>
          <a:p>
            <a:pPr algn="just">
              <a:lnSpc>
                <a:spcPts val="3919"/>
              </a:lnSpc>
            </a:pPr>
            <a:r>
              <a:rPr lang="en-US" sz="2799">
                <a:solidFill>
                  <a:srgbClr val="FFFFFF"/>
                </a:solidFill>
                <a:latin typeface="Arial"/>
                <a:ea typeface="Arial"/>
                <a:cs typeface="Arial"/>
                <a:sym typeface="Arial"/>
              </a:rPr>
              <a:t>Pada 2021–2022, Life Evaluation Indonesia berada di bawah rata-rata global. Pada 2023–2024, nilainya sedikit di atas rata-rata global. Pada 2025, Indonesia kembali sedikit berada di bawah rata-rata global. Dengan demikian, posisi Indonesia relatif terhadap rata-rata global mengalami fluktuasi selama periode pengamatan.</a:t>
            </a:r>
          </a:p>
          <a:p>
            <a:pPr algn="just">
              <a:lnSpc>
                <a:spcPts val="39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1028700" y="2172462"/>
            <a:ext cx="8485592" cy="6905692"/>
          </a:xfrm>
          <a:custGeom>
            <a:avLst/>
            <a:gdLst/>
            <a:ahLst/>
            <a:cxnLst/>
            <a:rect r="r" b="b" t="t" l="l"/>
            <a:pathLst>
              <a:path h="6905692" w="8485592">
                <a:moveTo>
                  <a:pt x="0" y="0"/>
                </a:moveTo>
                <a:lnTo>
                  <a:pt x="8485592" y="0"/>
                </a:lnTo>
                <a:lnTo>
                  <a:pt x="8485592" y="6905693"/>
                </a:lnTo>
                <a:lnTo>
                  <a:pt x="0" y="6905693"/>
                </a:lnTo>
                <a:lnTo>
                  <a:pt x="0" y="0"/>
                </a:lnTo>
                <a:close/>
              </a:path>
            </a:pathLst>
          </a:custGeom>
          <a:blipFill>
            <a:blip r:embed="rId4"/>
            <a:stretch>
              <a:fillRect l="0" t="0" r="0" b="0"/>
            </a:stretch>
          </a:blipFill>
        </p:spPr>
      </p:sp>
      <p:sp>
        <p:nvSpPr>
          <p:cNvPr name="TextBox 4" id="4"/>
          <p:cNvSpPr txBox="true"/>
          <p:nvPr/>
        </p:nvSpPr>
        <p:spPr>
          <a:xfrm rot="0">
            <a:off x="0" y="920356"/>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Faktor yang Berkaitan dengan Life Evalu</a:t>
            </a:r>
            <a:r>
              <a:rPr lang="en-US" b="true" sz="4800" spc="-211">
                <a:solidFill>
                  <a:srgbClr val="FFFFFF"/>
                </a:solidFill>
                <a:latin typeface="Arial Bold"/>
                <a:ea typeface="Arial Bold"/>
                <a:cs typeface="Arial Bold"/>
                <a:sym typeface="Arial Bold"/>
              </a:rPr>
              <a:t>ation</a:t>
            </a:r>
          </a:p>
        </p:txBody>
      </p:sp>
      <p:sp>
        <p:nvSpPr>
          <p:cNvPr name="TextBox 5" id="5"/>
          <p:cNvSpPr txBox="true"/>
          <p:nvPr/>
        </p:nvSpPr>
        <p:spPr>
          <a:xfrm rot="0">
            <a:off x="10323135" y="2811941"/>
            <a:ext cx="7749124" cy="5453380"/>
          </a:xfrm>
          <a:prstGeom prst="rect">
            <a:avLst/>
          </a:prstGeom>
        </p:spPr>
        <p:txBody>
          <a:bodyPr anchor="t" rtlCol="false" tIns="0" lIns="0" bIns="0" rIns="0">
            <a:spAutoFit/>
          </a:bodyPr>
          <a:lstStyle/>
          <a:p>
            <a:pPr algn="just">
              <a:lnSpc>
                <a:spcPts val="3919"/>
              </a:lnSpc>
            </a:pPr>
            <a:r>
              <a:rPr lang="en-US" sz="2799">
                <a:solidFill>
                  <a:srgbClr val="FFFFFF"/>
                </a:solidFill>
                <a:latin typeface="Arial"/>
                <a:ea typeface="Arial"/>
                <a:cs typeface="Arial"/>
                <a:sym typeface="Arial"/>
              </a:rPr>
              <a:t>V</a:t>
            </a:r>
            <a:r>
              <a:rPr lang="en-US" sz="2799">
                <a:solidFill>
                  <a:srgbClr val="FFFFFF"/>
                </a:solidFill>
                <a:latin typeface="Arial"/>
                <a:ea typeface="Arial"/>
                <a:cs typeface="Arial"/>
                <a:sym typeface="Arial"/>
              </a:rPr>
              <a:t>ariabel dengan korelasi absolut terbesar terhadap Life Evaluation adalah Freedom to make life choices, dengan r = 0.8926. Dua variabel berikutnya adalah Generosity (r = -0.8781) dan Social support (r = 0.7867).</a:t>
            </a:r>
          </a:p>
          <a:p>
            <a:pPr algn="just">
              <a:lnSpc>
                <a:spcPts val="3919"/>
              </a:lnSpc>
            </a:pPr>
          </a:p>
          <a:p>
            <a:pPr algn="just">
              <a:lnSpc>
                <a:spcPts val="3919"/>
              </a:lnSpc>
            </a:pPr>
            <a:r>
              <a:rPr lang="en-US" sz="2799">
                <a:solidFill>
                  <a:srgbClr val="FFFFFF"/>
                </a:solidFill>
                <a:latin typeface="Arial"/>
                <a:ea typeface="Arial"/>
                <a:cs typeface="Arial"/>
                <a:sym typeface="Arial"/>
              </a:rPr>
              <a:t>Hasil ini menunjukkan hubungan linear pada data 2021–2025, bukan bukti bahwa variabel tersebut secara langsung menyebabkan perubahan Life Evaluation.</a:t>
            </a:r>
          </a:p>
          <a:p>
            <a:pPr algn="just">
              <a:lnSpc>
                <a:spcPts val="391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3"/>
            <a:stretch>
              <a:fillRect l="0" t="-9222" r="0" b="-9222"/>
            </a:stretch>
          </a:blipFill>
        </p:spPr>
      </p:sp>
      <p:sp>
        <p:nvSpPr>
          <p:cNvPr name="Freeform 3" id="3"/>
          <p:cNvSpPr/>
          <p:nvPr/>
        </p:nvSpPr>
        <p:spPr>
          <a:xfrm flipH="false" flipV="false" rot="0">
            <a:off x="1187358" y="2388800"/>
            <a:ext cx="9280176" cy="5509399"/>
          </a:xfrm>
          <a:custGeom>
            <a:avLst/>
            <a:gdLst/>
            <a:ahLst/>
            <a:cxnLst/>
            <a:rect r="r" b="b" t="t" l="l"/>
            <a:pathLst>
              <a:path h="5509399" w="9280176">
                <a:moveTo>
                  <a:pt x="0" y="0"/>
                </a:moveTo>
                <a:lnTo>
                  <a:pt x="9280176" y="0"/>
                </a:lnTo>
                <a:lnTo>
                  <a:pt x="9280176" y="5509400"/>
                </a:lnTo>
                <a:lnTo>
                  <a:pt x="0" y="5509400"/>
                </a:lnTo>
                <a:lnTo>
                  <a:pt x="0" y="0"/>
                </a:lnTo>
                <a:close/>
              </a:path>
            </a:pathLst>
          </a:custGeom>
          <a:blipFill>
            <a:blip r:embed="rId4"/>
            <a:stretch>
              <a:fillRect l="0" t="0" r="0" b="0"/>
            </a:stretch>
          </a:blipFill>
        </p:spPr>
      </p:sp>
      <p:sp>
        <p:nvSpPr>
          <p:cNvPr name="TextBox 4" id="4"/>
          <p:cNvSpPr txBox="true"/>
          <p:nvPr/>
        </p:nvSpPr>
        <p:spPr>
          <a:xfrm rot="0">
            <a:off x="0" y="920356"/>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Perbandingan Life Evalu</a:t>
            </a:r>
            <a:r>
              <a:rPr lang="en-US" b="true" sz="4800" spc="-211">
                <a:solidFill>
                  <a:srgbClr val="FFFFFF"/>
                </a:solidFill>
                <a:latin typeface="Arial Bold"/>
                <a:ea typeface="Arial Bold"/>
                <a:cs typeface="Arial Bold"/>
                <a:sym typeface="Arial Bold"/>
              </a:rPr>
              <a:t>ation ASEAN</a:t>
            </a:r>
          </a:p>
        </p:txBody>
      </p:sp>
      <p:sp>
        <p:nvSpPr>
          <p:cNvPr name="TextBox 5" id="5"/>
          <p:cNvSpPr txBox="true"/>
          <p:nvPr/>
        </p:nvSpPr>
        <p:spPr>
          <a:xfrm rot="0">
            <a:off x="1187358" y="8998585"/>
            <a:ext cx="4951363" cy="283210"/>
          </a:xfrm>
          <a:prstGeom prst="rect">
            <a:avLst/>
          </a:prstGeom>
        </p:spPr>
        <p:txBody>
          <a:bodyPr anchor="t" rtlCol="false" tIns="0" lIns="0" bIns="0" rIns="0">
            <a:spAutoFit/>
          </a:bodyPr>
          <a:lstStyle/>
          <a:p>
            <a:pPr algn="l">
              <a:lnSpc>
                <a:spcPts val="2239"/>
              </a:lnSpc>
              <a:spcBef>
                <a:spcPct val="0"/>
              </a:spcBef>
            </a:pPr>
            <a:r>
              <a:rPr lang="en-US" b="true" sz="1599" spc="-47">
                <a:solidFill>
                  <a:srgbClr val="FFFFFF"/>
                </a:solidFill>
                <a:latin typeface="Arial Bold"/>
                <a:ea typeface="Arial Bold"/>
                <a:cs typeface="Arial Bold"/>
                <a:sym typeface="Arial Bold"/>
              </a:rPr>
              <a:t>www.reallygreatsite.com</a:t>
            </a:r>
          </a:p>
        </p:txBody>
      </p:sp>
      <p:sp>
        <p:nvSpPr>
          <p:cNvPr name="TextBox 6" id="6"/>
          <p:cNvSpPr txBox="true"/>
          <p:nvPr/>
        </p:nvSpPr>
        <p:spPr>
          <a:xfrm rot="0">
            <a:off x="11870776" y="2674437"/>
            <a:ext cx="5388524" cy="1490980"/>
          </a:xfrm>
          <a:prstGeom prst="rect">
            <a:avLst/>
          </a:prstGeom>
        </p:spPr>
        <p:txBody>
          <a:bodyPr anchor="t" rtlCol="false" tIns="0" lIns="0" bIns="0" rIns="0">
            <a:spAutoFit/>
          </a:bodyPr>
          <a:lstStyle/>
          <a:p>
            <a:pPr algn="just">
              <a:lnSpc>
                <a:spcPts val="3919"/>
              </a:lnSpc>
            </a:pPr>
            <a:r>
              <a:rPr lang="en-US" sz="2799">
                <a:solidFill>
                  <a:srgbClr val="FFFFFF"/>
                </a:solidFill>
                <a:latin typeface="Arial"/>
                <a:ea typeface="Arial"/>
                <a:cs typeface="Arial"/>
                <a:sym typeface="Arial"/>
              </a:rPr>
              <a:t>Rata-rata Indonesia: 5.464 </a:t>
            </a:r>
          </a:p>
          <a:p>
            <a:pPr algn="just">
              <a:lnSpc>
                <a:spcPts val="3919"/>
              </a:lnSpc>
            </a:pPr>
            <a:r>
              <a:rPr lang="en-US" sz="2799">
                <a:solidFill>
                  <a:srgbClr val="FFFFFF"/>
                </a:solidFill>
                <a:latin typeface="Arial"/>
                <a:ea typeface="Arial"/>
                <a:cs typeface="Arial"/>
                <a:sym typeface="Arial"/>
              </a:rPr>
              <a:t>Peringkat Indonesia: 5 dari 7 negara yang memiliki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0" y="920356"/>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Key Findings</a:t>
            </a:r>
          </a:p>
        </p:txBody>
      </p:sp>
      <p:sp>
        <p:nvSpPr>
          <p:cNvPr name="TextBox 4" id="4"/>
          <p:cNvSpPr txBox="true"/>
          <p:nvPr/>
        </p:nvSpPr>
        <p:spPr>
          <a:xfrm rot="0">
            <a:off x="1187358" y="8998585"/>
            <a:ext cx="4951363" cy="283210"/>
          </a:xfrm>
          <a:prstGeom prst="rect">
            <a:avLst/>
          </a:prstGeom>
        </p:spPr>
        <p:txBody>
          <a:bodyPr anchor="t" rtlCol="false" tIns="0" lIns="0" bIns="0" rIns="0">
            <a:spAutoFit/>
          </a:bodyPr>
          <a:lstStyle/>
          <a:p>
            <a:pPr algn="l">
              <a:lnSpc>
                <a:spcPts val="2239"/>
              </a:lnSpc>
              <a:spcBef>
                <a:spcPct val="0"/>
              </a:spcBef>
            </a:pPr>
            <a:r>
              <a:rPr lang="en-US" b="true" sz="1599" spc="-47">
                <a:solidFill>
                  <a:srgbClr val="FFFFFF"/>
                </a:solidFill>
                <a:latin typeface="Arial Bold"/>
                <a:ea typeface="Arial Bold"/>
                <a:cs typeface="Arial Bold"/>
                <a:sym typeface="Arial Bold"/>
              </a:rPr>
              <a:t>www.reallygreatsite.com</a:t>
            </a:r>
          </a:p>
        </p:txBody>
      </p:sp>
      <p:sp>
        <p:nvSpPr>
          <p:cNvPr name="TextBox 5" id="5"/>
          <p:cNvSpPr txBox="true"/>
          <p:nvPr/>
        </p:nvSpPr>
        <p:spPr>
          <a:xfrm rot="0">
            <a:off x="1028700" y="3409632"/>
            <a:ext cx="16230600" cy="3655695"/>
          </a:xfrm>
          <a:prstGeom prst="rect">
            <a:avLst/>
          </a:prstGeom>
        </p:spPr>
        <p:txBody>
          <a:bodyPr anchor="t" rtlCol="false" tIns="0" lIns="0" bIns="0" rIns="0">
            <a:spAutoFit/>
          </a:bodyPr>
          <a:lstStyle/>
          <a:p>
            <a:pPr algn="just" marL="604519" indent="-302260" lvl="1">
              <a:lnSpc>
                <a:spcPts val="4199"/>
              </a:lnSpc>
              <a:buFont typeface="Arial"/>
              <a:buChar char="•"/>
            </a:pPr>
            <a:r>
              <a:rPr lang="en-US" sz="2799" spc="55">
                <a:solidFill>
                  <a:srgbClr val="FFFFFF"/>
                </a:solidFill>
                <a:latin typeface="Arial"/>
                <a:ea typeface="Arial"/>
                <a:cs typeface="Arial"/>
                <a:sym typeface="Arial"/>
              </a:rPr>
              <a:t>Pertama, Life Ev</a:t>
            </a:r>
            <a:r>
              <a:rPr lang="en-US" sz="2799" spc="55">
                <a:solidFill>
                  <a:srgbClr val="FFFFFF"/>
                </a:solidFill>
                <a:latin typeface="Arial"/>
                <a:ea typeface="Arial"/>
                <a:cs typeface="Arial"/>
                <a:sym typeface="Arial"/>
              </a:rPr>
              <a:t>aluation Indonesia secara keseluruhan meningkat dari 5,240 pada 2021 menjadi 5,617 pada 2025.</a:t>
            </a:r>
          </a:p>
          <a:p>
            <a:pPr algn="just" marL="604519" indent="-302260" lvl="1">
              <a:lnSpc>
                <a:spcPts val="4199"/>
              </a:lnSpc>
              <a:buFont typeface="Arial"/>
              <a:buChar char="•"/>
            </a:pPr>
            <a:r>
              <a:rPr lang="en-US" sz="2799" spc="55">
                <a:solidFill>
                  <a:srgbClr val="FFFFFF"/>
                </a:solidFill>
                <a:latin typeface="Arial"/>
                <a:ea typeface="Arial"/>
                <a:cs typeface="Arial"/>
                <a:sym typeface="Arial"/>
              </a:rPr>
              <a:t>Kedua, dari variabel yang dianalisis, Freedom to make life choices memiliki hubungan linear positif paling kuat dengan Life Evaluation, dengan korelasi sekitar 0,893.</a:t>
            </a:r>
          </a:p>
          <a:p>
            <a:pPr algn="just" marL="604519" indent="-302260" lvl="1">
              <a:lnSpc>
                <a:spcPts val="4199"/>
              </a:lnSpc>
              <a:buFont typeface="Arial"/>
              <a:buChar char="•"/>
            </a:pPr>
            <a:r>
              <a:rPr lang="en-US" sz="2799" spc="55">
                <a:solidFill>
                  <a:srgbClr val="FFFFFF"/>
                </a:solidFill>
                <a:latin typeface="Arial"/>
                <a:ea typeface="Arial"/>
                <a:cs typeface="Arial"/>
                <a:sym typeface="Arial"/>
              </a:rPr>
              <a:t>Ketiga, jika dibandingkan dengan negara ASEAN yang memiliki data, Indonesia berada pada peringkat kelima berdasarkan rata-rata periode 2021 sampai 2025.</a:t>
            </a:r>
          </a:p>
          <a:p>
            <a:pPr algn="just">
              <a:lnSpc>
                <a:spcPts val="41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0" y="920356"/>
            <a:ext cx="18288000" cy="688848"/>
          </a:xfrm>
          <a:prstGeom prst="rect">
            <a:avLst/>
          </a:prstGeom>
        </p:spPr>
        <p:txBody>
          <a:bodyPr anchor="t" rtlCol="false" tIns="0" lIns="0" bIns="0" rIns="0">
            <a:spAutoFit/>
          </a:bodyPr>
          <a:lstStyle/>
          <a:p>
            <a:pPr algn="ctr">
              <a:lnSpc>
                <a:spcPts val="5136"/>
              </a:lnSpc>
            </a:pPr>
            <a:r>
              <a:rPr lang="en-US" b="true" sz="4800" spc="-211">
                <a:solidFill>
                  <a:srgbClr val="FFFFFF"/>
                </a:solidFill>
                <a:latin typeface="Arial Bold"/>
                <a:ea typeface="Arial Bold"/>
                <a:cs typeface="Arial Bold"/>
                <a:sym typeface="Arial Bold"/>
              </a:rPr>
              <a:t>Kesimpulan</a:t>
            </a:r>
          </a:p>
        </p:txBody>
      </p:sp>
      <p:sp>
        <p:nvSpPr>
          <p:cNvPr name="TextBox 4" id="4"/>
          <p:cNvSpPr txBox="true"/>
          <p:nvPr/>
        </p:nvSpPr>
        <p:spPr>
          <a:xfrm rot="0">
            <a:off x="1028700" y="2267585"/>
            <a:ext cx="16230600" cy="5949315"/>
          </a:xfrm>
          <a:prstGeom prst="rect">
            <a:avLst/>
          </a:prstGeom>
        </p:spPr>
        <p:txBody>
          <a:bodyPr anchor="t" rtlCol="false" tIns="0" lIns="0" bIns="0" rIns="0">
            <a:spAutoFit/>
          </a:bodyPr>
          <a:lstStyle/>
          <a:p>
            <a:pPr algn="just" marL="518160" indent="-259080" lvl="1">
              <a:lnSpc>
                <a:spcPts val="3600"/>
              </a:lnSpc>
              <a:buFont typeface="Arial"/>
              <a:buChar char="•"/>
            </a:pPr>
            <a:r>
              <a:rPr lang="en-US" sz="2400" spc="48">
                <a:solidFill>
                  <a:srgbClr val="FFFFFF"/>
                </a:solidFill>
                <a:latin typeface="Arial"/>
                <a:ea typeface="Arial"/>
                <a:cs typeface="Arial"/>
                <a:sym typeface="Arial"/>
              </a:rPr>
              <a:t>Berdasarkan seluruh analisis, Life Ev</a:t>
            </a:r>
            <a:r>
              <a:rPr lang="en-US" sz="2400" spc="48">
                <a:solidFill>
                  <a:srgbClr val="FFFFFF"/>
                </a:solidFill>
                <a:latin typeface="Arial"/>
                <a:ea typeface="Arial"/>
                <a:cs typeface="Arial"/>
                <a:sym typeface="Arial"/>
              </a:rPr>
              <a:t>aluation Indonesia selama periode 2021 sampai 2025 menunjukkan kecenderungan meningkat. Nilainya meningkat dari 5,240 pada 2021 menjadi 5,617 pada 2025.</a:t>
            </a:r>
          </a:p>
          <a:p>
            <a:pPr algn="just" marL="518160" indent="-259080" lvl="1">
              <a:lnSpc>
                <a:spcPts val="3600"/>
              </a:lnSpc>
              <a:buFont typeface="Arial"/>
              <a:buChar char="•"/>
            </a:pPr>
            <a:r>
              <a:rPr lang="en-US" sz="2400" spc="48">
                <a:solidFill>
                  <a:srgbClr val="FFFFFF"/>
                </a:solidFill>
                <a:latin typeface="Arial"/>
                <a:ea typeface="Arial"/>
                <a:cs typeface="Arial"/>
                <a:sym typeface="Arial"/>
              </a:rPr>
              <a:t>Jika dibandingkan d</a:t>
            </a:r>
            <a:r>
              <a:rPr lang="en-US" sz="2400" spc="48">
                <a:solidFill>
                  <a:srgbClr val="FFFFFF"/>
                </a:solidFill>
                <a:latin typeface="Arial"/>
                <a:ea typeface="Arial"/>
                <a:cs typeface="Arial"/>
                <a:sym typeface="Arial"/>
              </a:rPr>
              <a:t>engan rata-rata global, Indonesia berada di bawah rata-rata global pada 2021 dan 2022, kemudian sedikit berada di atas rata-rata global pada 2023 dan 2024, sebelum kembali sedikit di bawah rata-rata global pada 2025.</a:t>
            </a:r>
          </a:p>
          <a:p>
            <a:pPr algn="just" marL="518160" indent="-259080" lvl="1">
              <a:lnSpc>
                <a:spcPts val="3600"/>
              </a:lnSpc>
              <a:buFont typeface="Arial"/>
              <a:buChar char="•"/>
            </a:pPr>
            <a:r>
              <a:rPr lang="en-US" sz="2400" spc="48">
                <a:solidFill>
                  <a:srgbClr val="FFFFFF"/>
                </a:solidFill>
                <a:latin typeface="Arial"/>
                <a:ea typeface="Arial"/>
                <a:cs typeface="Arial"/>
                <a:sym typeface="Arial"/>
              </a:rPr>
              <a:t>Dari sisi faktor, beberapa variabel menunjukkan hubungan statistik dengan Life Evaluation, dengan Freedom to make life choices memiliki korelasi positif paling kuat dalam data yang dianalisis.</a:t>
            </a:r>
          </a:p>
          <a:p>
            <a:pPr algn="just" marL="518160" indent="-259080" lvl="1">
              <a:lnSpc>
                <a:spcPts val="3600"/>
              </a:lnSpc>
              <a:buFont typeface="Arial"/>
              <a:buChar char="•"/>
            </a:pPr>
            <a:r>
              <a:rPr lang="en-US" sz="2400" spc="48">
                <a:solidFill>
                  <a:srgbClr val="FFFFFF"/>
                </a:solidFill>
                <a:latin typeface="Arial"/>
                <a:ea typeface="Arial"/>
                <a:cs typeface="Arial"/>
                <a:sym typeface="Arial"/>
              </a:rPr>
              <a:t>Sementara itu, berdasarkan rata-rata Life Evaluation selama 2021 sampai 2025, Indonesia berada pada peringkat kelima dari tujuh negara ASEAN yang memiliki data.</a:t>
            </a:r>
          </a:p>
          <a:p>
            <a:pPr algn="just" marL="518160" indent="-259080" lvl="1">
              <a:lnSpc>
                <a:spcPts val="3600"/>
              </a:lnSpc>
              <a:buFont typeface="Arial"/>
              <a:buChar char="•"/>
            </a:pPr>
            <a:r>
              <a:rPr lang="en-US" sz="2400" spc="48">
                <a:solidFill>
                  <a:srgbClr val="FFFFFF"/>
                </a:solidFill>
                <a:latin typeface="Arial"/>
                <a:ea typeface="Arial"/>
                <a:cs typeface="Arial"/>
                <a:sym typeface="Arial"/>
              </a:rPr>
              <a:t>Namun, hasil korelasi tidak dapat digunakan untuk menyimpulkan hubungan sebab-akibat. Untuk mengetahui faktor yang benar-benar memengaruhi kebahagiaan, diperlukan analisis lebih lanjut dengan jumlah observasi dan metode yang lebih sesuai.</a:t>
            </a:r>
          </a:p>
          <a:p>
            <a:pPr algn="just" marL="259080" indent="-129540" lvl="1">
              <a:lnSpc>
                <a:spcPts val="1800"/>
              </a:lnSpc>
              <a:buFont typeface="Arial"/>
              <a:buChar char="•"/>
            </a:pPr>
          </a:p>
          <a:p>
            <a:pPr algn="just">
              <a:lnSpc>
                <a:spcPts val="16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DAHV51Elyls</dc:identifier>
  <dcterms:modified xsi:type="dcterms:W3CDTF">2011-08-01T06:04:30Z</dcterms:modified>
  <cp:revision>1</cp:revision>
  <dc:title>Black and Blue Modern Simple Data Analyst Presentation</dc:title>
</cp:coreProperties>
</file>